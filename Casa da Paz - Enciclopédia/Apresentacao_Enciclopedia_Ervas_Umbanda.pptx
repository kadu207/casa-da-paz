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4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image" Target="../media/image5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Relationship Id="rId11" Type="http://schemas.openxmlformats.org/officeDocument/2006/relationships/image" Target="../media/image6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Relationship Id="rId9" Type="http://schemas.openxmlformats.org/officeDocument/2006/relationships/image" Target="../media/image68.png"/><Relationship Id="rId10" Type="http://schemas.openxmlformats.org/officeDocument/2006/relationships/image" Target="../media/image69.png"/><Relationship Id="rId11" Type="http://schemas.openxmlformats.org/officeDocument/2006/relationships/image" Target="../media/image7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Relationship Id="rId8" Type="http://schemas.openxmlformats.org/officeDocument/2006/relationships/image" Target="../media/image77.png"/><Relationship Id="rId9" Type="http://schemas.openxmlformats.org/officeDocument/2006/relationships/image" Target="../media/image78.png"/><Relationship Id="rId10" Type="http://schemas.openxmlformats.org/officeDocument/2006/relationships/image" Target="../media/image79.png"/><Relationship Id="rId11" Type="http://schemas.openxmlformats.org/officeDocument/2006/relationships/image" Target="../media/image8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87.png"/><Relationship Id="rId9" Type="http://schemas.openxmlformats.org/officeDocument/2006/relationships/image" Target="../media/image88.png"/><Relationship Id="rId10" Type="http://schemas.openxmlformats.org/officeDocument/2006/relationships/image" Target="../media/image89.png"/><Relationship Id="rId11" Type="http://schemas.openxmlformats.org/officeDocument/2006/relationships/image" Target="../media/image9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96.png"/><Relationship Id="rId8" Type="http://schemas.openxmlformats.org/officeDocument/2006/relationships/image" Target="../media/image97.png"/><Relationship Id="rId9" Type="http://schemas.openxmlformats.org/officeDocument/2006/relationships/image" Target="../media/image98.png"/><Relationship Id="rId10" Type="http://schemas.openxmlformats.org/officeDocument/2006/relationships/image" Target="../media/image99.png"/><Relationship Id="rId11" Type="http://schemas.openxmlformats.org/officeDocument/2006/relationships/image" Target="../media/image10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17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E4335"/>
                </a:solidFill>
              </a:defRPr>
            </a:pPr>
            <a:r>
              <a:t>Ervas sagradas na Umbanda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41714E"/>
                </a:solidFill>
              </a:defRPr>
            </a:pPr>
            <a:r>
              <a:t>Guia educativo para adaptação ao seu site</a:t>
            </a:r>
          </a:p>
        </p:txBody>
      </p:sp>
      <p:pic>
        <p:nvPicPr>
          <p:cNvPr id="5" name="Picture 4" descr="erva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28800"/>
            <a:ext cx="4846320" cy="269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874519"/>
            <a:ext cx="594360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100 fichas de espécies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Fundamentos, categorias e preparações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Referências, riscos e princípios de publicação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41714E"/>
                </a:solidFill>
              </a:defRPr>
            </a:pPr>
            <a:r>
              <a:t>ENCICLOPÉDIA DAS ERVAS • OUTUBRO 2026  |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17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E4335"/>
                </a:solidFill>
              </a:defRPr>
            </a:pPr>
            <a:r>
              <a:t>Como ler o material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7899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As tradições variam entre casas.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“Quente”, “morna” e “fria” são categorias rituais, não científicas.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As imagens são esquemáticas, não fotografias botânicas.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41714E"/>
                </a:solidFill>
              </a:defRPr>
            </a:pPr>
            <a:r>
              <a:t>ENCICLOPÉDIA DAS ERVAS • OUTUBRO 2026  |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17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E4335"/>
                </a:solidFill>
              </a:defRPr>
            </a:pPr>
            <a:r>
              <a:t>Fundamentos e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7899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Axé vegetal: conceito religioso.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Banhos: práticas de limpeza, harmonização e energização.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Reza, preparo e direção espiritual variam conforme o terreiro.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41714E"/>
                </a:solidFill>
              </a:defRPr>
            </a:pPr>
            <a:r>
              <a:t>ENCICLOPÉDIA DAS ERVAS • OUTUBRO 2026  |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17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E4335"/>
                </a:solidFill>
              </a:defRPr>
            </a:pPr>
            <a:r>
              <a:t>Três classificações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7899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QUENTES: limpeza intensa / corte simbólico.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MORNAS: harmonização / equilíbrio simbólico.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FRIAS: atuação específica em determinadas escolas.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Sem consenso? Registrar “variável”.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41714E"/>
                </a:solidFill>
              </a:defRPr>
            </a:pPr>
            <a:r>
              <a:t>ENCICLOPÉDIA DAS ERVAS • OUTUBRO 2026  |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17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E4335"/>
                </a:solidFill>
              </a:defRPr>
            </a:pPr>
            <a:r>
              <a:t>O cheiro não define a 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7899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Florais: lavanda, rosa, camomila.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Herbais: alecrim, manjericão, hortelã.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Pungentes: guiné, alho, arruda.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Intensidade aromática não mede segurança nem eficácia espiritual.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41714E"/>
                </a:solidFill>
              </a:defRPr>
            </a:pPr>
            <a:r>
              <a:t>ENCICLOPÉDIA DAS ERVAS • OUTUBRO 2026  |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17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E4335"/>
                </a:solidFill>
              </a:defRPr>
            </a:pPr>
            <a:r>
              <a:t>Segurança em primeiro lugar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7899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Não aplicar comigo-ninguém-pode, pinhão-roxo, mamona, arruda, guiné ou espada-de-são-jorge em banhos caseiros.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Não ingerir. Evitar mucosas, rosto e pele lesionada.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Fotos não identificam espécies com segurança.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41714E"/>
                </a:solidFill>
              </a:defRPr>
            </a:pPr>
            <a:r>
              <a:t>ENCICLOPÉDIA DAS ERVAS • OUTUBRO 2026  |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17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E4335"/>
                </a:solidFill>
              </a:defRPr>
            </a:pPr>
            <a:r>
              <a:t>Maceração | passo a passo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7899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1. Confirmar espécie e segurança.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2. Lavar as folhas.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3. Colocar em 1 litro de água potável.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4. Macerar suavemente.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5. Orar, se parte do rito.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6. Coar e aplicar do pescoço para baixo.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41714E"/>
                </a:solidFill>
              </a:defRPr>
            </a:pPr>
            <a:r>
              <a:t>ENCICLOPÉDIA DAS ERVAS • OUTUBRO 2026  |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17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E4335"/>
                </a:solidFill>
              </a:defRPr>
            </a:pPr>
            <a:r>
              <a:t>Infusão | passo a passo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7899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1. Aquecer 1 litro de água e desligar.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2. Adicionar plantas aromáticas adequadas.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3. Tampar cerca de 10 minutos.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4. Esfriar e coar.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5. Aplicar externamente; parar diante de irritação.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41714E"/>
                </a:solidFill>
              </a:defRPr>
            </a:pPr>
            <a:r>
              <a:t>ENCICLOPÉDIA DAS ERVAS • OUTUBRO 2026  |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17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E4335"/>
                </a:solidFill>
              </a:defRPr>
            </a:pPr>
            <a:r>
              <a:t>Banho suave • Disposição</a:t>
            </a:r>
          </a:p>
        </p:txBody>
      </p:sp>
      <p:pic>
        <p:nvPicPr>
          <p:cNvPr id="4" name="Picture 3" descr="erva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28800"/>
            <a:ext cx="4846320" cy="2692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74519"/>
            <a:ext cx="594360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Ervas: alecrim + manjericão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Quantidade: 1 ramo pequeno + 4 folhas para 1 litro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Método: Infusão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Leitura ritual: energização simbólica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Uso: externo, pescoço para baixo.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41714E"/>
                </a:solidFill>
              </a:defRPr>
            </a:pPr>
            <a:r>
              <a:t>ENCICLOPÉDIA DAS ERVAS • OUTUBRO 2026  |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17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E4335"/>
                </a:solidFill>
              </a:defRPr>
            </a:pPr>
            <a:r>
              <a:t>Banho suave • Serenidade</a:t>
            </a:r>
          </a:p>
        </p:txBody>
      </p:sp>
      <p:pic>
        <p:nvPicPr>
          <p:cNvPr id="4" name="Picture 3" descr="erva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28800"/>
            <a:ext cx="4846320" cy="2692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74519"/>
            <a:ext cx="594360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Ervas: camomila + lavanda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Quantidade: 1 colher de chá + pequena pitada de flores para 1 litro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Método: Infusão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Leitura ritual: acolhimento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Uso: externo, pescoço para baixo.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41714E"/>
                </a:solidFill>
              </a:defRPr>
            </a:pPr>
            <a:r>
              <a:t>ENCICLOPÉDIA DAS ERVAS • OUTUBRO 2026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17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E4335"/>
                </a:solidFill>
              </a:defRPr>
            </a:pPr>
            <a:r>
              <a:t>Banho suave • Renovação</a:t>
            </a:r>
          </a:p>
        </p:txBody>
      </p:sp>
      <p:pic>
        <p:nvPicPr>
          <p:cNvPr id="4" name="Picture 3" descr="erva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28800"/>
            <a:ext cx="4846320" cy="2692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74519"/>
            <a:ext cx="594360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Ervas: manjericão + hortelã-verde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Quantidade: 4 + 3 folhas para 1 litro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Método: Maceração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Leitura ritual: frescor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Uso: externo, pescoço para baixo.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41714E"/>
                </a:solidFill>
              </a:defRPr>
            </a:pPr>
            <a:r>
              <a:t>ENCICLOPÉDIA DAS ERVAS • OUTUBRO 2026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17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E4335"/>
                </a:solidFill>
              </a:defRPr>
            </a:pPr>
            <a:r>
              <a:t>Banho suave • Paz</a:t>
            </a:r>
          </a:p>
        </p:txBody>
      </p:sp>
      <p:pic>
        <p:nvPicPr>
          <p:cNvPr id="4" name="Picture 3" descr="erva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28800"/>
            <a:ext cx="4846320" cy="2692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74519"/>
            <a:ext cx="594360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Ervas: pétalas de rosa-branca + camomila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Quantidade: pétalas sem agrotóxicos + 1 colher de chá para 1 litro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Método: Infusão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Leitura ritual: serenidade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Uso: externo, pescoço para baixo.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41714E"/>
                </a:solidFill>
              </a:defRPr>
            </a:pPr>
            <a:r>
              <a:t>ENCICLOPÉDIA DAS ERVAS • OUTUBRO 2026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17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E4335"/>
                </a:solidFill>
              </a:defRPr>
            </a:pPr>
            <a:r>
              <a:t>Banho suave • Clareza</a:t>
            </a:r>
          </a:p>
        </p:txBody>
      </p:sp>
      <p:pic>
        <p:nvPicPr>
          <p:cNvPr id="4" name="Picture 3" descr="erva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28800"/>
            <a:ext cx="4846320" cy="2692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74519"/>
            <a:ext cx="594360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Ervas: alecrim + camomila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Quantidade: 1 ramo pequeno + 1 colher de chá para 1 litro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Método: Infusão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Leitura ritual: equilíbrio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Uso: externo, pescoço para baixo.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41714E"/>
                </a:solidFill>
              </a:defRPr>
            </a:pPr>
            <a:r>
              <a:t>ENCICLOPÉDIA DAS ERVAS • OUTUBRO 2026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17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E4335"/>
                </a:solidFill>
              </a:defRPr>
            </a:pPr>
            <a:r>
              <a:t>Banho suave • Harmonia</a:t>
            </a:r>
          </a:p>
        </p:txBody>
      </p:sp>
      <p:pic>
        <p:nvPicPr>
          <p:cNvPr id="4" name="Picture 3" descr="erva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28800"/>
            <a:ext cx="4846320" cy="2692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74519"/>
            <a:ext cx="594360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Ervas: manjericão + alecrim + lavanda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Quantidade: 3 folhas + 1 ramo pequeno + pitada para 1 litro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Método: Infusão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Leitura ritual: harmonização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Uso: externo, pescoço para baixo.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41714E"/>
                </a:solidFill>
              </a:defRPr>
            </a:pPr>
            <a:r>
              <a:t>ENCICLOPÉDIA DAS ERVAS • OUTUBRO 2026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17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E4335"/>
                </a:solidFill>
              </a:defRPr>
            </a:pPr>
            <a:r>
              <a:t>Catálogo das 100 espécies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7899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As fichas registram: 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• Nome popular e científico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• Categoria ritual contextual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• Associação simbólica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• Alerta de segurança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• Espaço para foto licenciada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Não são 100 prescrições de banhos.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41714E"/>
                </a:solidFill>
              </a:defRPr>
            </a:pPr>
            <a:r>
              <a:t>ENCICLOPÉDIA DAS ERVAS • OUTUBRO 2026  |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E4335"/>
                </a:solidFill>
              </a:defRPr>
            </a:pPr>
            <a:r>
              <a:t>Catálogo • espécies 001–010</a:t>
            </a:r>
          </a:p>
        </p:txBody>
      </p:sp>
      <p:pic>
        <p:nvPicPr>
          <p:cNvPr id="3" name="Picture 2" descr="erva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2103120" cy="1168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001 Alecrim</a:t>
            </a:r>
          </a:p>
        </p:txBody>
      </p:sp>
      <p:pic>
        <p:nvPicPr>
          <p:cNvPr id="5" name="Picture 4" descr="erva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488" y="1234440"/>
            <a:ext cx="2103120" cy="1168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61488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002 Manjericão</a:t>
            </a:r>
          </a:p>
        </p:txBody>
      </p:sp>
      <p:pic>
        <p:nvPicPr>
          <p:cNvPr id="7" name="Picture 6" descr="erva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496" y="1234440"/>
            <a:ext cx="2103120" cy="1168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11496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003 Alfazema verdadeira</a:t>
            </a:r>
          </a:p>
        </p:txBody>
      </p:sp>
      <p:pic>
        <p:nvPicPr>
          <p:cNvPr id="9" name="Picture 8" descr="erva_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503" y="1234440"/>
            <a:ext cx="2103120" cy="1168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61503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004 Camomila-alemã</a:t>
            </a:r>
          </a:p>
        </p:txBody>
      </p:sp>
      <p:pic>
        <p:nvPicPr>
          <p:cNvPr id="11" name="Picture 10" descr="erva_0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1511" y="1234440"/>
            <a:ext cx="2103120" cy="1168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11511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005 Hortelã-pimenta</a:t>
            </a:r>
          </a:p>
        </p:txBody>
      </p:sp>
      <p:pic>
        <p:nvPicPr>
          <p:cNvPr id="13" name="Picture 12" descr="erva_0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794760"/>
            <a:ext cx="2103120" cy="1168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1480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006 Hortelã-verde</a:t>
            </a:r>
          </a:p>
        </p:txBody>
      </p:sp>
      <p:pic>
        <p:nvPicPr>
          <p:cNvPr id="15" name="Picture 14" descr="erva_00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61488" y="3794760"/>
            <a:ext cx="2103120" cy="1168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61488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007 Capim-limão</a:t>
            </a:r>
          </a:p>
        </p:txBody>
      </p:sp>
      <p:pic>
        <p:nvPicPr>
          <p:cNvPr id="17" name="Picture 16" descr="erva_00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1496" y="3794760"/>
            <a:ext cx="2103120" cy="1168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11496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008 Erva-cidreira verdadeira</a:t>
            </a:r>
          </a:p>
        </p:txBody>
      </p:sp>
      <p:pic>
        <p:nvPicPr>
          <p:cNvPr id="19" name="Picture 18" descr="erva_00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61503" y="3794760"/>
            <a:ext cx="2103120" cy="1168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461503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009 Erva-doce</a:t>
            </a:r>
          </a:p>
        </p:txBody>
      </p:sp>
      <p:pic>
        <p:nvPicPr>
          <p:cNvPr id="21" name="Picture 20" descr="erva_0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11511" y="3794760"/>
            <a:ext cx="2103120" cy="1168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11511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010 Funcho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41714E"/>
                </a:solidFill>
              </a:defRPr>
            </a:pPr>
            <a:r>
              <a:t>Ilustrações esquemáticas: NÃO adequadas à identificação botânica.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E4335"/>
                </a:solidFill>
              </a:defRPr>
            </a:pPr>
            <a:r>
              <a:t>Catálogo • espécies 011–020</a:t>
            </a:r>
          </a:p>
        </p:txBody>
      </p:sp>
      <p:pic>
        <p:nvPicPr>
          <p:cNvPr id="3" name="Picture 2" descr="erva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2103120" cy="1168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011 Manjerona</a:t>
            </a:r>
          </a:p>
        </p:txBody>
      </p:sp>
      <p:pic>
        <p:nvPicPr>
          <p:cNvPr id="5" name="Picture 4" descr="erva_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488" y="1234440"/>
            <a:ext cx="2103120" cy="1168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61488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012 Orégano</a:t>
            </a:r>
          </a:p>
        </p:txBody>
      </p:sp>
      <p:pic>
        <p:nvPicPr>
          <p:cNvPr id="7" name="Picture 6" descr="erva_0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496" y="1234440"/>
            <a:ext cx="2103120" cy="1168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11496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013 Tomilho</a:t>
            </a:r>
          </a:p>
        </p:txBody>
      </p:sp>
      <p:pic>
        <p:nvPicPr>
          <p:cNvPr id="9" name="Picture 8" descr="erva_0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503" y="1234440"/>
            <a:ext cx="2103120" cy="1168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61503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014 Sálvia-comum</a:t>
            </a:r>
          </a:p>
        </p:txBody>
      </p:sp>
      <p:pic>
        <p:nvPicPr>
          <p:cNvPr id="11" name="Picture 10" descr="erva_0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1511" y="1234440"/>
            <a:ext cx="2103120" cy="1168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11511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015 Sálvia-esclareia</a:t>
            </a:r>
          </a:p>
        </p:txBody>
      </p:sp>
      <p:pic>
        <p:nvPicPr>
          <p:cNvPr id="13" name="Picture 12" descr="erva_0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794760"/>
            <a:ext cx="2103120" cy="1168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1480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016 Louro</a:t>
            </a:r>
          </a:p>
        </p:txBody>
      </p:sp>
      <p:pic>
        <p:nvPicPr>
          <p:cNvPr id="15" name="Picture 14" descr="erva_01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61488" y="3794760"/>
            <a:ext cx="2103120" cy="1168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61488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017 Coentro</a:t>
            </a:r>
          </a:p>
        </p:txBody>
      </p:sp>
      <p:pic>
        <p:nvPicPr>
          <p:cNvPr id="17" name="Picture 16" descr="erva_01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1496" y="3794760"/>
            <a:ext cx="2103120" cy="1168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11496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018 Salsa</a:t>
            </a:r>
          </a:p>
        </p:txBody>
      </p:sp>
      <p:pic>
        <p:nvPicPr>
          <p:cNvPr id="19" name="Picture 18" descr="erva_01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61503" y="3794760"/>
            <a:ext cx="2103120" cy="1168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461503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019 Cebolinha</a:t>
            </a:r>
          </a:p>
        </p:txBody>
      </p:sp>
      <p:pic>
        <p:nvPicPr>
          <p:cNvPr id="21" name="Picture 20" descr="erva_02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11511" y="3794760"/>
            <a:ext cx="2103120" cy="1168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11511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020 Boldo-brasileiro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41714E"/>
                </a:solidFill>
              </a:defRPr>
            </a:pPr>
            <a:r>
              <a:t>Ilustrações esquemáticas: NÃO adequadas à identificação botânica.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E4335"/>
                </a:solidFill>
              </a:defRPr>
            </a:pPr>
            <a:r>
              <a:t>Catálogo • espécies 021–030</a:t>
            </a:r>
          </a:p>
        </p:txBody>
      </p:sp>
      <p:pic>
        <p:nvPicPr>
          <p:cNvPr id="3" name="Picture 2" descr="erva_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2103120" cy="1168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021 Boldo-do-chile</a:t>
            </a:r>
          </a:p>
        </p:txBody>
      </p:sp>
      <p:pic>
        <p:nvPicPr>
          <p:cNvPr id="5" name="Picture 4" descr="erva_0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488" y="1234440"/>
            <a:ext cx="2103120" cy="1168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61488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022 Boldo-miúdo</a:t>
            </a:r>
          </a:p>
        </p:txBody>
      </p:sp>
      <p:pic>
        <p:nvPicPr>
          <p:cNvPr id="7" name="Picture 6" descr="erva_0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496" y="1234440"/>
            <a:ext cx="2103120" cy="1168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11496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023 Arruda</a:t>
            </a:r>
          </a:p>
        </p:txBody>
      </p:sp>
      <p:pic>
        <p:nvPicPr>
          <p:cNvPr id="9" name="Picture 8" descr="erva_0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503" y="1234440"/>
            <a:ext cx="2103120" cy="1168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61503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024 Guiné</a:t>
            </a:r>
          </a:p>
        </p:txBody>
      </p:sp>
      <p:pic>
        <p:nvPicPr>
          <p:cNvPr id="11" name="Picture 10" descr="erva_02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1511" y="1234440"/>
            <a:ext cx="2103120" cy="1168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11511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025 Aroeira-vermelha</a:t>
            </a:r>
          </a:p>
        </p:txBody>
      </p:sp>
      <p:pic>
        <p:nvPicPr>
          <p:cNvPr id="13" name="Picture 12" descr="erva_02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794760"/>
            <a:ext cx="2103120" cy="1168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1480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026 Espada-de-são-jorge</a:t>
            </a:r>
          </a:p>
        </p:txBody>
      </p:sp>
      <p:pic>
        <p:nvPicPr>
          <p:cNvPr id="15" name="Picture 14" descr="erva_02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61488" y="3794760"/>
            <a:ext cx="2103120" cy="1168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61488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027 Espada-de-santa-bárbara</a:t>
            </a:r>
          </a:p>
        </p:txBody>
      </p:sp>
      <p:pic>
        <p:nvPicPr>
          <p:cNvPr id="17" name="Picture 16" descr="erva_02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1496" y="3794760"/>
            <a:ext cx="2103120" cy="1168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11496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028 Comigo-ninguém-pode</a:t>
            </a:r>
          </a:p>
        </p:txBody>
      </p:sp>
      <p:pic>
        <p:nvPicPr>
          <p:cNvPr id="19" name="Picture 18" descr="erva_02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61503" y="3794760"/>
            <a:ext cx="2103120" cy="1168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461503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029 Pinhão-roxo</a:t>
            </a:r>
          </a:p>
        </p:txBody>
      </p:sp>
      <p:pic>
        <p:nvPicPr>
          <p:cNvPr id="21" name="Picture 20" descr="erva_03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11511" y="3794760"/>
            <a:ext cx="2103120" cy="1168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11511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030 Mamona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41714E"/>
                </a:solidFill>
              </a:defRPr>
            </a:pPr>
            <a:r>
              <a:t>Ilustrações esquemáticas: NÃO adequadas à identificação botânica.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E4335"/>
                </a:solidFill>
              </a:defRPr>
            </a:pPr>
            <a:r>
              <a:t>Catálogo • espécies 031–040</a:t>
            </a:r>
          </a:p>
        </p:txBody>
      </p:sp>
      <p:pic>
        <p:nvPicPr>
          <p:cNvPr id="3" name="Picture 2" descr="erva_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2103120" cy="1168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031 Alho</a:t>
            </a:r>
          </a:p>
        </p:txBody>
      </p:sp>
      <p:pic>
        <p:nvPicPr>
          <p:cNvPr id="5" name="Picture 4" descr="erva_0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488" y="1234440"/>
            <a:ext cx="2103120" cy="1168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61488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032 Cebola</a:t>
            </a:r>
          </a:p>
        </p:txBody>
      </p:sp>
      <p:pic>
        <p:nvPicPr>
          <p:cNvPr id="7" name="Picture 6" descr="erva_0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496" y="1234440"/>
            <a:ext cx="2103120" cy="1168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11496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033 Eucalipto-comum</a:t>
            </a:r>
          </a:p>
        </p:txBody>
      </p:sp>
      <p:pic>
        <p:nvPicPr>
          <p:cNvPr id="9" name="Picture 8" descr="erva_03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503" y="1234440"/>
            <a:ext cx="2103120" cy="1168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61503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034 Eucalipto-cidró</a:t>
            </a:r>
          </a:p>
        </p:txBody>
      </p:sp>
      <p:pic>
        <p:nvPicPr>
          <p:cNvPr id="11" name="Picture 10" descr="erva_03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1511" y="1234440"/>
            <a:ext cx="2103120" cy="1168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11511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035 Rosa-branca</a:t>
            </a:r>
          </a:p>
        </p:txBody>
      </p:sp>
      <p:pic>
        <p:nvPicPr>
          <p:cNvPr id="13" name="Picture 12" descr="erva_03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794760"/>
            <a:ext cx="2103120" cy="1168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1480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036 Rosa-vermelha</a:t>
            </a:r>
          </a:p>
        </p:txBody>
      </p:sp>
      <p:pic>
        <p:nvPicPr>
          <p:cNvPr id="15" name="Picture 14" descr="erva_03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61488" y="3794760"/>
            <a:ext cx="2103120" cy="1168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61488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037 Rosa-amarela</a:t>
            </a:r>
          </a:p>
        </p:txBody>
      </p:sp>
      <p:pic>
        <p:nvPicPr>
          <p:cNvPr id="17" name="Picture 16" descr="erva_03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1496" y="3794760"/>
            <a:ext cx="2103120" cy="1168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11496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038 Jasmim-verdadeiro</a:t>
            </a:r>
          </a:p>
        </p:txBody>
      </p:sp>
      <p:pic>
        <p:nvPicPr>
          <p:cNvPr id="19" name="Picture 18" descr="erva_03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61503" y="3794760"/>
            <a:ext cx="2103120" cy="1168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461503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039 Jasmim-manga</a:t>
            </a:r>
          </a:p>
        </p:txBody>
      </p:sp>
      <p:pic>
        <p:nvPicPr>
          <p:cNvPr id="21" name="Picture 20" descr="erva_04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11511" y="3794760"/>
            <a:ext cx="2103120" cy="1168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11511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040 Jasmim-estrela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41714E"/>
                </a:solidFill>
              </a:defRPr>
            </a:pPr>
            <a:r>
              <a:t>Ilustrações esquemáticas: NÃO adequadas à identificação botânica.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E4335"/>
                </a:solidFill>
              </a:defRPr>
            </a:pPr>
            <a:r>
              <a:t>Catálogo • espécies 041–050</a:t>
            </a:r>
          </a:p>
        </p:txBody>
      </p:sp>
      <p:pic>
        <p:nvPicPr>
          <p:cNvPr id="3" name="Picture 2" descr="erva_0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2103120" cy="1168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041 Calêndula</a:t>
            </a:r>
          </a:p>
        </p:txBody>
      </p:sp>
      <p:pic>
        <p:nvPicPr>
          <p:cNvPr id="5" name="Picture 4" descr="erva_0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488" y="1234440"/>
            <a:ext cx="2103120" cy="1168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61488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042 Hibisco</a:t>
            </a:r>
          </a:p>
        </p:txBody>
      </p:sp>
      <p:pic>
        <p:nvPicPr>
          <p:cNvPr id="7" name="Picture 6" descr="erva_0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496" y="1234440"/>
            <a:ext cx="2103120" cy="1168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11496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043 Malva</a:t>
            </a:r>
          </a:p>
        </p:txBody>
      </p:sp>
      <p:pic>
        <p:nvPicPr>
          <p:cNvPr id="9" name="Picture 8" descr="erva_04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503" y="1234440"/>
            <a:ext cx="2103120" cy="1168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61503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044 Malvarisco</a:t>
            </a:r>
          </a:p>
        </p:txBody>
      </p:sp>
      <p:pic>
        <p:nvPicPr>
          <p:cNvPr id="11" name="Picture 10" descr="erva_04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1511" y="1234440"/>
            <a:ext cx="2103120" cy="1168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11511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045 Violeta-africana</a:t>
            </a:r>
          </a:p>
        </p:txBody>
      </p:sp>
      <p:pic>
        <p:nvPicPr>
          <p:cNvPr id="13" name="Picture 12" descr="erva_04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794760"/>
            <a:ext cx="2103120" cy="1168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1480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046 Violeta-perfumada</a:t>
            </a:r>
          </a:p>
        </p:txBody>
      </p:sp>
      <p:pic>
        <p:nvPicPr>
          <p:cNvPr id="15" name="Picture 14" descr="erva_04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61488" y="3794760"/>
            <a:ext cx="2103120" cy="1168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61488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047 Girassol</a:t>
            </a:r>
          </a:p>
        </p:txBody>
      </p:sp>
      <p:pic>
        <p:nvPicPr>
          <p:cNvPr id="17" name="Picture 16" descr="erva_04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1496" y="3794760"/>
            <a:ext cx="2103120" cy="1168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11496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048 Margarida</a:t>
            </a:r>
          </a:p>
        </p:txBody>
      </p:sp>
      <p:pic>
        <p:nvPicPr>
          <p:cNvPr id="19" name="Picture 18" descr="erva_04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61503" y="3794760"/>
            <a:ext cx="2103120" cy="1168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461503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049 Lírio-branco</a:t>
            </a:r>
          </a:p>
        </p:txBody>
      </p:sp>
      <p:pic>
        <p:nvPicPr>
          <p:cNvPr id="21" name="Picture 20" descr="erva_05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11511" y="3794760"/>
            <a:ext cx="2103120" cy="1168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11511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050 Lírio-da-paz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41714E"/>
                </a:solidFill>
              </a:defRPr>
            </a:pPr>
            <a:r>
              <a:t>Ilustrações esquemáticas: NÃO adequadas à identificação botânica.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E4335"/>
                </a:solidFill>
              </a:defRPr>
            </a:pPr>
            <a:r>
              <a:t>Catálogo • espécies 051–060</a:t>
            </a:r>
          </a:p>
        </p:txBody>
      </p:sp>
      <p:pic>
        <p:nvPicPr>
          <p:cNvPr id="3" name="Picture 2" descr="erva_0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2103120" cy="1168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051 Cravo-da-índia</a:t>
            </a:r>
          </a:p>
        </p:txBody>
      </p:sp>
      <p:pic>
        <p:nvPicPr>
          <p:cNvPr id="5" name="Picture 4" descr="erva_0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488" y="1234440"/>
            <a:ext cx="2103120" cy="1168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61488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052 Canela-do-ceilão</a:t>
            </a:r>
          </a:p>
        </p:txBody>
      </p:sp>
      <p:pic>
        <p:nvPicPr>
          <p:cNvPr id="7" name="Picture 6" descr="erva_0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496" y="1234440"/>
            <a:ext cx="2103120" cy="1168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11496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053 Gengibre</a:t>
            </a:r>
          </a:p>
        </p:txBody>
      </p:sp>
      <p:pic>
        <p:nvPicPr>
          <p:cNvPr id="9" name="Picture 8" descr="erva_05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503" y="1234440"/>
            <a:ext cx="2103120" cy="1168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61503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054 Cúrcuma</a:t>
            </a:r>
          </a:p>
        </p:txBody>
      </p:sp>
      <p:pic>
        <p:nvPicPr>
          <p:cNvPr id="11" name="Picture 10" descr="erva_05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1511" y="1234440"/>
            <a:ext cx="2103120" cy="1168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11511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055 Cardamomo</a:t>
            </a:r>
          </a:p>
        </p:txBody>
      </p:sp>
      <p:pic>
        <p:nvPicPr>
          <p:cNvPr id="13" name="Picture 12" descr="erva_05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794760"/>
            <a:ext cx="2103120" cy="1168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1480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056 Anis-estrelado</a:t>
            </a:r>
          </a:p>
        </p:txBody>
      </p:sp>
      <p:pic>
        <p:nvPicPr>
          <p:cNvPr id="15" name="Picture 14" descr="erva_05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61488" y="3794760"/>
            <a:ext cx="2103120" cy="1168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61488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057 Baunilha</a:t>
            </a:r>
          </a:p>
        </p:txBody>
      </p:sp>
      <p:pic>
        <p:nvPicPr>
          <p:cNvPr id="17" name="Picture 16" descr="erva_05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1496" y="3794760"/>
            <a:ext cx="2103120" cy="1168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11496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058 Pitanga</a:t>
            </a:r>
          </a:p>
        </p:txBody>
      </p:sp>
      <p:pic>
        <p:nvPicPr>
          <p:cNvPr id="19" name="Picture 18" descr="erva_05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61503" y="3794760"/>
            <a:ext cx="2103120" cy="1168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461503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059 Goiabeira</a:t>
            </a:r>
          </a:p>
        </p:txBody>
      </p:sp>
      <p:pic>
        <p:nvPicPr>
          <p:cNvPr id="21" name="Picture 20" descr="erva_06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11511" y="3794760"/>
            <a:ext cx="2103120" cy="1168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11511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060 Limoeiro-taiti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41714E"/>
                </a:solidFill>
              </a:defRPr>
            </a:pPr>
            <a:r>
              <a:t>Ilustrações esquemáticas: NÃO adequadas à identificação botânica.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E4335"/>
                </a:solidFill>
              </a:defRPr>
            </a:pPr>
            <a:r>
              <a:t>Catálogo • espécies 061–070</a:t>
            </a:r>
          </a:p>
        </p:txBody>
      </p:sp>
      <p:pic>
        <p:nvPicPr>
          <p:cNvPr id="3" name="Picture 2" descr="erva_0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2103120" cy="1168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061 Laranjeira-doce</a:t>
            </a:r>
          </a:p>
        </p:txBody>
      </p:sp>
      <p:pic>
        <p:nvPicPr>
          <p:cNvPr id="5" name="Picture 4" descr="erva_0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488" y="1234440"/>
            <a:ext cx="2103120" cy="1168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61488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062 Tangerineira</a:t>
            </a:r>
          </a:p>
        </p:txBody>
      </p:sp>
      <p:pic>
        <p:nvPicPr>
          <p:cNvPr id="7" name="Picture 6" descr="erva_0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496" y="1234440"/>
            <a:ext cx="2103120" cy="1168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11496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063 Laranjeira-azeda</a:t>
            </a:r>
          </a:p>
        </p:txBody>
      </p:sp>
      <p:pic>
        <p:nvPicPr>
          <p:cNvPr id="9" name="Picture 8" descr="erva_06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503" y="1234440"/>
            <a:ext cx="2103120" cy="1168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61503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064 Romãzeira</a:t>
            </a:r>
          </a:p>
        </p:txBody>
      </p:sp>
      <p:pic>
        <p:nvPicPr>
          <p:cNvPr id="11" name="Picture 10" descr="erva_06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1511" y="1234440"/>
            <a:ext cx="2103120" cy="1168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11511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065 Oliveira</a:t>
            </a:r>
          </a:p>
        </p:txBody>
      </p:sp>
      <p:pic>
        <p:nvPicPr>
          <p:cNvPr id="13" name="Picture 12" descr="erva_06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794760"/>
            <a:ext cx="2103120" cy="1168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1480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066 Figueira-comum</a:t>
            </a:r>
          </a:p>
        </p:txBody>
      </p:sp>
      <p:pic>
        <p:nvPicPr>
          <p:cNvPr id="15" name="Picture 14" descr="erva_06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61488" y="3794760"/>
            <a:ext cx="2103120" cy="1168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61488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067 Amoreira-preta</a:t>
            </a:r>
          </a:p>
        </p:txBody>
      </p:sp>
      <p:pic>
        <p:nvPicPr>
          <p:cNvPr id="17" name="Picture 16" descr="erva_06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1496" y="3794760"/>
            <a:ext cx="2103120" cy="1168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11496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068 Abacateiro</a:t>
            </a:r>
          </a:p>
        </p:txBody>
      </p:sp>
      <p:pic>
        <p:nvPicPr>
          <p:cNvPr id="19" name="Picture 18" descr="erva_06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61503" y="3794760"/>
            <a:ext cx="2103120" cy="1168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461503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069 Mangueira</a:t>
            </a:r>
          </a:p>
        </p:txBody>
      </p:sp>
      <p:pic>
        <p:nvPicPr>
          <p:cNvPr id="21" name="Picture 20" descr="erva_07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11511" y="3794760"/>
            <a:ext cx="2103120" cy="1168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11511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070 Coqueiro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41714E"/>
                </a:solidFill>
              </a:defRPr>
            </a:pPr>
            <a:r>
              <a:t>Ilustrações esquemáticas: NÃO adequadas à identificação botânica.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E4335"/>
                </a:solidFill>
              </a:defRPr>
            </a:pPr>
            <a:r>
              <a:t>Catálogo • espécies 071–080</a:t>
            </a:r>
          </a:p>
        </p:txBody>
      </p:sp>
      <p:pic>
        <p:nvPicPr>
          <p:cNvPr id="3" name="Picture 2" descr="erva_0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2103120" cy="1168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071 Dendezeiro</a:t>
            </a:r>
          </a:p>
        </p:txBody>
      </p:sp>
      <p:pic>
        <p:nvPicPr>
          <p:cNvPr id="5" name="Picture 4" descr="erva_0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488" y="1234440"/>
            <a:ext cx="2103120" cy="1168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61488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072 Bananeira</a:t>
            </a:r>
          </a:p>
        </p:txBody>
      </p:sp>
      <p:pic>
        <p:nvPicPr>
          <p:cNvPr id="7" name="Picture 6" descr="erva_0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496" y="1234440"/>
            <a:ext cx="2103120" cy="1168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11496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073 Pitangueira-da-praia</a:t>
            </a:r>
          </a:p>
        </p:txBody>
      </p:sp>
      <p:pic>
        <p:nvPicPr>
          <p:cNvPr id="9" name="Picture 8" descr="erva_07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503" y="1234440"/>
            <a:ext cx="2103120" cy="1168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61503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074 Jabuticabeira</a:t>
            </a:r>
          </a:p>
        </p:txBody>
      </p:sp>
      <p:pic>
        <p:nvPicPr>
          <p:cNvPr id="11" name="Picture 10" descr="erva_07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1511" y="1234440"/>
            <a:ext cx="2103120" cy="1168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11511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075 Maracujazeiro</a:t>
            </a:r>
          </a:p>
        </p:txBody>
      </p:sp>
      <p:pic>
        <p:nvPicPr>
          <p:cNvPr id="13" name="Picture 12" descr="erva_07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794760"/>
            <a:ext cx="2103120" cy="1168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1480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076 Maracujá-do-mato</a:t>
            </a:r>
          </a:p>
        </p:txBody>
      </p:sp>
      <p:pic>
        <p:nvPicPr>
          <p:cNvPr id="15" name="Picture 14" descr="erva_07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61488" y="3794760"/>
            <a:ext cx="2103120" cy="1168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61488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077 Melissa-de-jardim</a:t>
            </a:r>
          </a:p>
        </p:txBody>
      </p:sp>
      <p:pic>
        <p:nvPicPr>
          <p:cNvPr id="17" name="Picture 16" descr="erva_07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1496" y="3794760"/>
            <a:ext cx="2103120" cy="1168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11496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078 Alecrim-pimenta</a:t>
            </a:r>
          </a:p>
        </p:txBody>
      </p:sp>
      <p:pic>
        <p:nvPicPr>
          <p:cNvPr id="19" name="Picture 18" descr="erva_07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61503" y="3794760"/>
            <a:ext cx="2103120" cy="1168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461503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079 Cidreira-brasileira</a:t>
            </a:r>
          </a:p>
        </p:txBody>
      </p:sp>
      <p:pic>
        <p:nvPicPr>
          <p:cNvPr id="21" name="Picture 20" descr="erva_08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11511" y="3794760"/>
            <a:ext cx="2103120" cy="1168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11511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080 Arnica-brasileira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41714E"/>
                </a:solidFill>
              </a:defRPr>
            </a:pPr>
            <a:r>
              <a:t>Ilustrações esquemáticas: NÃO adequadas à identificação botânica.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E4335"/>
                </a:solidFill>
              </a:defRPr>
            </a:pPr>
            <a:r>
              <a:t>Catálogo • espécies 081–090</a:t>
            </a:r>
          </a:p>
        </p:txBody>
      </p:sp>
      <p:pic>
        <p:nvPicPr>
          <p:cNvPr id="3" name="Picture 2" descr="erva_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2103120" cy="1168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081 Arnica-montana</a:t>
            </a:r>
          </a:p>
        </p:txBody>
      </p:sp>
      <p:pic>
        <p:nvPicPr>
          <p:cNvPr id="5" name="Picture 4" descr="erva_0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488" y="1234440"/>
            <a:ext cx="2103120" cy="1168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61488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082 Carqueja</a:t>
            </a:r>
          </a:p>
        </p:txBody>
      </p:sp>
      <p:pic>
        <p:nvPicPr>
          <p:cNvPr id="7" name="Picture 6" descr="erva_08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496" y="1234440"/>
            <a:ext cx="2103120" cy="1168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11496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083 Quebra-pedra</a:t>
            </a:r>
          </a:p>
        </p:txBody>
      </p:sp>
      <p:pic>
        <p:nvPicPr>
          <p:cNvPr id="9" name="Picture 8" descr="erva_08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503" y="1234440"/>
            <a:ext cx="2103120" cy="1168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61503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084 Tanchagem</a:t>
            </a:r>
          </a:p>
        </p:txBody>
      </p:sp>
      <p:pic>
        <p:nvPicPr>
          <p:cNvPr id="11" name="Picture 10" descr="erva_08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1511" y="1234440"/>
            <a:ext cx="2103120" cy="1168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11511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085 Confrei</a:t>
            </a:r>
          </a:p>
        </p:txBody>
      </p:sp>
      <p:pic>
        <p:nvPicPr>
          <p:cNvPr id="13" name="Picture 12" descr="erva_08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794760"/>
            <a:ext cx="2103120" cy="1168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1480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086 Babosa</a:t>
            </a:r>
          </a:p>
        </p:txBody>
      </p:sp>
      <p:pic>
        <p:nvPicPr>
          <p:cNvPr id="15" name="Picture 14" descr="erva_08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61488" y="3794760"/>
            <a:ext cx="2103120" cy="1168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61488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087 Saião</a:t>
            </a:r>
          </a:p>
        </p:txBody>
      </p:sp>
      <p:pic>
        <p:nvPicPr>
          <p:cNvPr id="17" name="Picture 16" descr="erva_08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1496" y="3794760"/>
            <a:ext cx="2103120" cy="1168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11496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088 Folha-da-fortuna</a:t>
            </a:r>
          </a:p>
        </p:txBody>
      </p:sp>
      <p:pic>
        <p:nvPicPr>
          <p:cNvPr id="19" name="Picture 18" descr="erva_08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61503" y="3794760"/>
            <a:ext cx="2103120" cy="1168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461503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089 Colônia</a:t>
            </a:r>
          </a:p>
        </p:txBody>
      </p:sp>
      <p:pic>
        <p:nvPicPr>
          <p:cNvPr id="21" name="Picture 20" descr="erva_09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11511" y="3794760"/>
            <a:ext cx="2103120" cy="1168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11511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090 Peregum-verde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41714E"/>
                </a:solidFill>
              </a:defRPr>
            </a:pPr>
            <a:r>
              <a:t>Ilustrações esquemáticas: NÃO adequadas à identificação botânica.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E4335"/>
                </a:solidFill>
              </a:defRPr>
            </a:pPr>
            <a:r>
              <a:t>Catálogo • espécies 091–100</a:t>
            </a:r>
          </a:p>
        </p:txBody>
      </p:sp>
      <p:pic>
        <p:nvPicPr>
          <p:cNvPr id="3" name="Picture 2" descr="erva_0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2103120" cy="1168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091 Peregum-vermelho</a:t>
            </a:r>
          </a:p>
        </p:txBody>
      </p:sp>
      <p:pic>
        <p:nvPicPr>
          <p:cNvPr id="5" name="Picture 4" descr="erva_0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488" y="1234440"/>
            <a:ext cx="2103120" cy="1168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61488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092 Samambaia-americana</a:t>
            </a:r>
          </a:p>
        </p:txBody>
      </p:sp>
      <p:pic>
        <p:nvPicPr>
          <p:cNvPr id="7" name="Picture 6" descr="erva_0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496" y="1234440"/>
            <a:ext cx="2103120" cy="1168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11496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093 Avenca</a:t>
            </a:r>
          </a:p>
        </p:txBody>
      </p:sp>
      <p:pic>
        <p:nvPicPr>
          <p:cNvPr id="9" name="Picture 8" descr="erva_09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503" y="1234440"/>
            <a:ext cx="2103120" cy="1168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61503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094 Espada-de-ogum (espécie variável)</a:t>
            </a:r>
          </a:p>
        </p:txBody>
      </p:sp>
      <p:pic>
        <p:nvPicPr>
          <p:cNvPr id="11" name="Picture 10" descr="erva_09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1511" y="1234440"/>
            <a:ext cx="2103120" cy="1168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11511" y="242316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095 Cana-do-brejo</a:t>
            </a:r>
          </a:p>
        </p:txBody>
      </p:sp>
      <p:pic>
        <p:nvPicPr>
          <p:cNvPr id="13" name="Picture 12" descr="erva_09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794760"/>
            <a:ext cx="2103120" cy="1168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1480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096 Pata-de-vaca</a:t>
            </a:r>
          </a:p>
        </p:txBody>
      </p:sp>
      <p:pic>
        <p:nvPicPr>
          <p:cNvPr id="15" name="Picture 14" descr="erva_09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61488" y="3794760"/>
            <a:ext cx="2103120" cy="1168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61488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097 Ipê-amarelo</a:t>
            </a:r>
          </a:p>
        </p:txBody>
      </p:sp>
      <p:pic>
        <p:nvPicPr>
          <p:cNvPr id="17" name="Picture 16" descr="erva_09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1496" y="3794760"/>
            <a:ext cx="2103120" cy="1168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11496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098 Ipê-roxo</a:t>
            </a:r>
          </a:p>
        </p:txBody>
      </p:sp>
      <p:pic>
        <p:nvPicPr>
          <p:cNvPr id="19" name="Picture 18" descr="erva_09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61503" y="3794760"/>
            <a:ext cx="2103120" cy="1168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461503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099 Jurema-preta</a:t>
            </a:r>
          </a:p>
        </p:txBody>
      </p:sp>
      <p:pic>
        <p:nvPicPr>
          <p:cNvPr id="21" name="Picture 20" descr="erva_10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11511" y="3794760"/>
            <a:ext cx="2103120" cy="1168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11511" y="4983480"/>
            <a:ext cx="21671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4335"/>
                </a:solidFill>
              </a:defRPr>
            </a:pPr>
            <a:r>
              <a:t>100 Jurema-branca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41714E"/>
                </a:solidFill>
              </a:defRPr>
            </a:pPr>
            <a:r>
              <a:t>Ilustrações esquemáticas: NÃO adequadas à identificação botânica.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17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E4335"/>
                </a:solidFill>
              </a:defRPr>
            </a:pPr>
            <a:r>
              <a:t>Para publicar no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7899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Uma página por planta; filtros por categoria e risco.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Incluir foto autenticada e licença de uso.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Revisão dos fundamentos pelo terreiro.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Revisão botânica e toxicológica.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Não atribuir consenso onde há variação.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41714E"/>
                </a:solidFill>
              </a:defRPr>
            </a:pPr>
            <a:r>
              <a:t>ENCICLOPÉDIA DAS ERVAS • OUTUBRO 2026  |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17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E4335"/>
                </a:solidFill>
              </a:defRPr>
            </a:pPr>
            <a:r>
              <a:t>Fontes e próximos cuidados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7899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Templo Filhos do Tempo (2026)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Adriano Camargo / TUCC (classificação)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Ministério da Saúde (arruda)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Flora e Funga do Brasil / Kew (taxonomia)</a:t>
            </a:r>
          </a:p>
          <a:p>
            <a:pPr>
              <a:spcAft>
                <a:spcPts val="800"/>
              </a:spcAft>
              <a:defRPr sz="1900" b="0">
                <a:solidFill>
                  <a:srgbClr val="28332C"/>
                </a:solidFill>
              </a:defRPr>
            </a:pPr>
            <a:r>
              <a:t>Wikimedia Commons (fotos licenciadas, pendentes)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41714E"/>
                </a:solidFill>
              </a:defRPr>
            </a:pPr>
            <a:r>
              <a:t>ENCICLOPÉDIA DAS ERVAS • OUTUBRO 2026  | 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